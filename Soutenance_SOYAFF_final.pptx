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83" r:id="rId16"/>
    <p:sldId id="273" r:id="rId17"/>
    <p:sldId id="274" r:id="rId18"/>
    <p:sldId id="276" r:id="rId19"/>
    <p:sldId id="284" r:id="rId20"/>
    <p:sldId id="278" r:id="rId21"/>
    <p:sldId id="279" r:id="rId22"/>
    <p:sldId id="280" r:id="rId23"/>
    <p:sldId id="281" r:id="rId24"/>
    <p:sldId id="282" r:id="rId25"/>
    <p:sldId id="285" r:id="rId26"/>
    <p:sldId id="286" r:id="rId27"/>
    <p:sldId id="287" r:id="rId28"/>
    <p:sldId id="288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11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553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 présenter, annoncer le sujet en une phrase. ~15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le plan rapidement. ~20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: 2 phrases d'ouverture, puis contexte et problématique.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paradoxe en 3 chiffres, puis le cas concret SOYAFF. Q : conflit d'intérêt ? (→ accès terrain unique, autorisation formelle, loi 2008-12).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question de recherche, affichée clairement. ~45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4 objectifs, ancrés sur la démarche construire→déployer→évaluer→formaliser. ~40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Poser le vocabulaire vite, ne pas s'attarder. ~50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tableau cloud/local du Ch.2. Justifie POURQUOI hybride. Insérer le vrai tableau. ~50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détailler chaque techno. Insister : réel, déployé, open-source = frugalité.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Insérer le C4 conteneurs. Insister sur routage hybride = cœur de thèse.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Insérer le déploiement. VPS unique = frugalité (H1). Q : SPOF ? (→ assumé, ADR-03). ~50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bonnes nouvelles + verbatim. Q : courbe d'apprentissage ? (→ marge de 15 pts). Erreurs ? (→ doublons éliminés par construction, seuil 80% non vérifiable). Coût 60€? (→ ~45 total, corrigé). ~1,5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DE VÉRITÉ. Dire franchement l'échec, ENCHAÎNER sur diagnostic (slide 20). ~1,5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apprise : 3/4 confirmées ou étayées, la 4e réfutée mais la plus instructive. ~45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Idéalement live si VPS up. Sinon lancer la vidéo. Montrer le chemin CLOUD qui marche. ~90 s à 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Finir sur la contribution et la portée. Ne PAS finir sur une limite.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Rapide. Piste phare = routeur texte-vers-SQL. ~45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Sourire, respirer, inviter les questions. ~10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2" y="457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RÉPUBLIQUE DU SÉNÉGAL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-3" y="428105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FE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peuple - Un but - Une foi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0" y="1819656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Dakar Bourguiba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-133004" y="3112285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FE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UFR du Génie des Sciences et Technologies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-1" y="3438144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Mémoire pour l'obtention du diplôme de Master en Génie Logiciel (GL)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80160" y="3886200"/>
            <a:ext cx="9631375" cy="1051560"/>
          </a:xfrm>
          <a:prstGeom prst="roundRect">
            <a:avLst>
              <a:gd name="adj" fmla="val 5217"/>
            </a:avLst>
          </a:prstGeom>
          <a:solidFill>
            <a:srgbClr val="1166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1554480" y="3995928"/>
            <a:ext cx="9082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hybride pour la digitalisation des PME d'import-export en Afrique subsaharienne : conception, déploiement et validation sur le cas SOYAFF (corridor Dakar-Bamako)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9447" y="49377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et soutenu par :
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Brahima Mamadou YARANAGORE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882335" y="48463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la direction de :
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Massamba LO (Directeur de l'UFR Sciences et Technologies)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de soutenance : 2025-2026</a:t>
            </a:r>
            <a:endParaRPr lang="en-US" sz="13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14A63196-8E10-15E9-9C66-24AC12115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7043" y="789709"/>
            <a:ext cx="1371600" cy="91440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7B62D4D0-13DB-64DB-3868-DC2127C05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7043" y="2157568"/>
            <a:ext cx="1371600" cy="94931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7772400" cy="7772400"/>
          </a:xfrm>
          <a:prstGeom prst="chord">
            <a:avLst>
              <a:gd name="adj1" fmla="val 0"/>
              <a:gd name="adj2" fmla="val 21600000"/>
            </a:avLst>
          </a:prstGeom>
          <a:solidFill>
            <a:srgbClr val="127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4206240" cy="4206240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40080" y="28346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760720" y="141732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7C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76072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435608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: contexte &amp; problématique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760720" y="233172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7C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576072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350008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&amp; solution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760720" y="324612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7C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5760720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264408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760720" y="416052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7C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576072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4178807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&amp; résultats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760720" y="507492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7C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5760720" y="5074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5093207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11478463" y="6199632"/>
            <a:ext cx="384048" cy="384048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11478463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206240" cy="3108960"/>
          </a:xfrm>
          <a:prstGeom prst="chord">
            <a:avLst>
              <a:gd name="adj1" fmla="val 1200000"/>
              <a:gd name="adj2" fmla="val 7200000"/>
            </a:avLst>
          </a:prstGeom>
          <a:solidFill>
            <a:srgbClr val="127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814255" y="-1280160"/>
            <a:ext cx="3657600" cy="2743200"/>
          </a:xfrm>
          <a:prstGeom prst="chord">
            <a:avLst>
              <a:gd name="adj1" fmla="val 1200000"/>
              <a:gd name="adj2" fmla="val 7200000"/>
            </a:avLst>
          </a:prstGeom>
          <a:solidFill>
            <a:srgbClr val="CFE4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181448" y="1417320"/>
            <a:ext cx="1828800" cy="1828800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346040" y="158191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346040" y="1581912"/>
            <a:ext cx="149961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330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901288" y="3611880"/>
            <a:ext cx="4389120" cy="777240"/>
          </a:xfrm>
          <a:prstGeom prst="roundRect">
            <a:avLst>
              <a:gd name="adj" fmla="val 49412"/>
            </a:avLst>
          </a:prstGeom>
          <a:solidFill>
            <a:srgbClr val="0E5B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3901288" y="36118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5943600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713232" y="5943600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969264" y="5943600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1225296" y="5943600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57200" y="6199632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713232" y="6199632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969264" y="6199632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225296" y="6199632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11478463" y="6199632"/>
            <a:ext cx="384048" cy="384048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11478463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82880" cy="182880"/>
          </a:xfrm>
          <a:prstGeom prst="ellipse">
            <a:avLst/>
          </a:prstGeom>
          <a:solidFill>
            <a:srgbClr val="127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Contexte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  <a:effectLst>
            <a:outerShdw blurRad="76200" dist="25400" dir="5400000" algn="bl" rotWithShape="0">
              <a:srgbClr val="AAB4B6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1911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PME = tissu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économique ouest-africain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60520" y="1783080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  <a:effectLst>
            <a:outerShdw blurRad="76200" dist="25400" dir="5400000" algn="bl" rotWithShape="0">
              <a:srgbClr val="AAB4B6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4160520" y="1911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2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ont intégré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numérique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783080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  <a:effectLst>
            <a:outerShdw blurRad="76200" dist="25400" dir="5400000" algn="bl" rotWithShape="0">
              <a:srgbClr val="AAB4B6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7772400" y="1911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7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+32 %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productivité pour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celles qui franchissent le cap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520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cas SOYAFF, PME d'import-export sur le corridor (siège Bamako, bureau Dakar) 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5661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31520" y="4251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saisie manuelle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029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Dakar → ressaisie Bamako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51960" y="4023360"/>
            <a:ext cx="35661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4434840" y="4251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d'information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5029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jours (WhatsApp)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55280" y="4023360"/>
            <a:ext cx="35661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8138160" y="4251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visibilité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5029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 pour la direction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1478463" y="6199632"/>
            <a:ext cx="384048" cy="384048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11478463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457200"/>
            <a:ext cx="5486400" cy="5943600"/>
          </a:xfrm>
          <a:prstGeom prst="chord">
            <a:avLst>
              <a:gd name="adj1" fmla="val 6600000"/>
              <a:gd name="adj2" fmla="val 15000000"/>
            </a:avLst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Problématique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2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CENTRALE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67665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6126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23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concevoir, déployer et valider une architecture logicielle hybride et réplicable pour digitaliser une PME </a:t>
            </a:r>
            <a:r>
              <a:rPr lang="en-US" sz="1800" i="1" dirty="0" err="1">
                <a:solidFill>
                  <a:srgbClr val="23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d'import</a:t>
            </a:r>
            <a:r>
              <a:rPr lang="en-US" sz="1800" i="1" dirty="0">
                <a:solidFill>
                  <a:srgbClr val="23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-export </a:t>
            </a:r>
            <a:r>
              <a:rPr lang="en-US" sz="1800" i="1" dirty="0" err="1">
                <a:solidFill>
                  <a:srgbClr val="23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ouest-africaine</a:t>
            </a:r>
            <a:r>
              <a:rPr lang="en-US" i="1" dirty="0">
                <a:solidFill>
                  <a:srgbClr val="23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800" i="1" dirty="0" err="1">
                <a:solidFill>
                  <a:srgbClr val="23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800" i="1" dirty="0">
                <a:solidFill>
                  <a:srgbClr val="23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intégrant ETL, IA générative souveraine et DevOps sous les contraintes de budget, de </a:t>
            </a:r>
            <a:r>
              <a:rPr lang="en-US" sz="1800" i="1" dirty="0" err="1">
                <a:solidFill>
                  <a:srgbClr val="23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connectivité</a:t>
            </a:r>
            <a:r>
              <a:rPr lang="en-US" i="1" dirty="0">
                <a:solidFill>
                  <a:srgbClr val="23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i="1" dirty="0">
                <a:solidFill>
                  <a:srgbClr val="23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de souveraineté des données 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182880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?</a:t>
            </a:r>
            <a:endParaRPr lang="en-US" sz="20000" dirty="0"/>
          </a:p>
        </p:txBody>
      </p:sp>
      <p:sp>
        <p:nvSpPr>
          <p:cNvPr id="8" name="Shape 6"/>
          <p:cNvSpPr/>
          <p:nvPr/>
        </p:nvSpPr>
        <p:spPr>
          <a:xfrm>
            <a:off x="11478463" y="6199632"/>
            <a:ext cx="384048" cy="384048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11478463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051560"/>
            <a:ext cx="5943600" cy="5943600"/>
          </a:xfrm>
          <a:prstGeom prst="chord">
            <a:avLst>
              <a:gd name="adj1" fmla="val 17945550"/>
              <a:gd name="adj2" fmla="val 4800000"/>
            </a:avLst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828800" y="2011680"/>
            <a:ext cx="3017520" cy="3017520"/>
          </a:xfrm>
          <a:prstGeom prst="ellipse">
            <a:avLst/>
          </a:prstGeom>
          <a:solidFill>
            <a:srgbClr val="127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1828800" y="31546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852160" y="1554480"/>
            <a:ext cx="502920" cy="502920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8521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4630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une architecture hybride frugale et souveraine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52160" y="2697480"/>
            <a:ext cx="502920" cy="502920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585216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6060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en production réelle sur le cas SOYAFF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852160" y="3840480"/>
            <a:ext cx="502920" cy="502920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585216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7490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scientifiquement par quatre hypothèses (H1–H4)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852160" y="4983480"/>
            <a:ext cx="502920" cy="502920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585216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4908666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FORMALISER un référentiel d'architecture réplicable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478463" y="6199632"/>
            <a:ext cx="384048" cy="384048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11478463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206240" cy="3108960"/>
          </a:xfrm>
          <a:prstGeom prst="chord">
            <a:avLst>
              <a:gd name="adj1" fmla="val 1200000"/>
              <a:gd name="adj2" fmla="val 7200000"/>
            </a:avLst>
          </a:prstGeom>
          <a:solidFill>
            <a:srgbClr val="127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814255" y="-1280160"/>
            <a:ext cx="3657600" cy="2743200"/>
          </a:xfrm>
          <a:prstGeom prst="chord">
            <a:avLst>
              <a:gd name="adj1" fmla="val 1200000"/>
              <a:gd name="adj2" fmla="val 7200000"/>
            </a:avLst>
          </a:prstGeom>
          <a:solidFill>
            <a:srgbClr val="CFE4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181448" y="1417320"/>
            <a:ext cx="1828800" cy="1828800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346040" y="158191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346040" y="1581912"/>
            <a:ext cx="149961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330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901288" y="3611880"/>
            <a:ext cx="4389120" cy="777240"/>
          </a:xfrm>
          <a:prstGeom prst="roundRect">
            <a:avLst>
              <a:gd name="adj" fmla="val 49412"/>
            </a:avLst>
          </a:prstGeom>
          <a:solidFill>
            <a:srgbClr val="0E5B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3901288" y="36118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&amp; SOLUTION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5943600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713232" y="5943600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969264" y="5943600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1225296" y="5943600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57200" y="6199632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713232" y="6199632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969264" y="6199632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225296" y="6199632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11478463" y="6199632"/>
            <a:ext cx="384048" cy="384048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11478463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  <p:transition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Notions clés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idempotent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9456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Extract-Transform-Load où rejouer n'insère jamais de doublon.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9120" y="137160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4572000" y="15544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19456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augmentée par récupération : un LLM enrichi par des documents avant de répondre.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0" y="137160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8412480" y="15544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hybride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19456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modalités d'IA coexistent : cloud (puissance) et local (souveraineté).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731520" y="39319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Souveraineté des données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57200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ne quittent pas l'infrastructure ni la juridiction maîtrisée.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89120" y="374904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4572000" y="39319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 (lignes de produits)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57200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 de systèmes = un noyau commun + des points de variation configurables.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0" y="374904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412480" y="39319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Frugalité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457200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minimisant coût et ressources sous contrainte forte.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1478463" y="6199632"/>
            <a:ext cx="384048" cy="384048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11478463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1972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vs Local : l'arbitrage de conception </a:t>
            </a:r>
            <a:r>
              <a:rPr lang="fr-FR" sz="3000" b="1" dirty="0">
                <a:solidFill>
                  <a:srgbClr val="0E5B60"/>
                </a:solidFill>
                <a:latin typeface="Arial" pitchFamily="34" charset="0"/>
                <a:cs typeface="Arial" pitchFamily="34" charset="-120"/>
              </a:rPr>
              <a:t>d'après la littérature (§2.3)</a:t>
            </a:r>
            <a:endParaRPr lang="en-US" sz="3000" b="1" dirty="0">
              <a:solidFill>
                <a:srgbClr val="0E5B60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433737"/>
            <a:ext cx="11862511" cy="4290645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5875">
            <a:solidFill>
              <a:srgbClr val="127C82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38" y="5812483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comparatif fonde le choix hybride : le local pour la souveraineté, le cloud pour la puissance.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478463" y="6199632"/>
            <a:ext cx="384048" cy="384048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1478463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2E487FE6-681E-8C8E-60F9-95841EFAC1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727300"/>
              </p:ext>
            </p:extLst>
          </p:nvPr>
        </p:nvGraphicFramePr>
        <p:xfrm>
          <a:off x="1" y="1377431"/>
          <a:ext cx="11862510" cy="4391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4170">
                  <a:extLst>
                    <a:ext uri="{9D8B030D-6E8A-4147-A177-3AD203B41FA5}">
                      <a16:colId xmlns:a16="http://schemas.microsoft.com/office/drawing/2014/main" val="42475467"/>
                    </a:ext>
                  </a:extLst>
                </a:gridCol>
                <a:gridCol w="3954170">
                  <a:extLst>
                    <a:ext uri="{9D8B030D-6E8A-4147-A177-3AD203B41FA5}">
                      <a16:colId xmlns:a16="http://schemas.microsoft.com/office/drawing/2014/main" val="2373019892"/>
                    </a:ext>
                  </a:extLst>
                </a:gridCol>
                <a:gridCol w="3954170">
                  <a:extLst>
                    <a:ext uri="{9D8B030D-6E8A-4147-A177-3AD203B41FA5}">
                      <a16:colId xmlns:a16="http://schemas.microsoft.com/office/drawing/2014/main" val="2907694031"/>
                    </a:ext>
                  </a:extLst>
                </a:gridCol>
              </a:tblGrid>
              <a:tr h="307411">
                <a:tc>
                  <a:txBody>
                    <a:bodyPr/>
                    <a:lstStyle/>
                    <a:p>
                      <a:r>
                        <a:rPr lang="fr-FR" sz="1400" dirty="0"/>
                        <a:t>Critères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Cloud (ex. </a:t>
                      </a:r>
                      <a:r>
                        <a:rPr lang="fr-FR" sz="1400" dirty="0" err="1"/>
                        <a:t>OpenAI</a:t>
                      </a:r>
                      <a:r>
                        <a:rPr lang="fr-FR" sz="1400" dirty="0"/>
                        <a:t>, </a:t>
                      </a:r>
                      <a:r>
                        <a:rPr lang="fr-FR" sz="1400" dirty="0" err="1"/>
                        <a:t>Anthropic</a:t>
                      </a:r>
                      <a:r>
                        <a:rPr lang="fr-FR" sz="1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Local (ex. Ollama, vLLM,llama.cpp)</a:t>
                      </a:r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004895"/>
                  </a:ext>
                </a:extLst>
              </a:tr>
              <a:tr h="524110">
                <a:tc>
                  <a:txBody>
                    <a:bodyPr/>
                    <a:lstStyle/>
                    <a:p>
                      <a:r>
                        <a:rPr lang="fr-FR" sz="1400" dirty="0"/>
                        <a:t>Puissance et raisonnement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Exceptionnelle (modèles frontières propriétaires, fenêtres de contexte massives).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Limitée à modérée (modèles contraints par la VRAM locale disponible).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227071"/>
                  </a:ext>
                </a:extLst>
              </a:tr>
              <a:tr h="524110">
                <a:tc>
                  <a:txBody>
                    <a:bodyPr/>
                    <a:lstStyle/>
                    <a:p>
                      <a:r>
                        <a:rPr lang="fr-FR" sz="1400" dirty="0"/>
                        <a:t>Coût opérationnel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Variable au jeton (facturation au </a:t>
                      </a:r>
                      <a:r>
                        <a:rPr lang="fr-FR" sz="1400" dirty="0" err="1"/>
                        <a:t>token</a:t>
                      </a:r>
                      <a:r>
                        <a:rPr lang="fr-FR" sz="1400" dirty="0"/>
                        <a:t>, risque d’explosion budgétaire à grande échelle).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err="1"/>
                        <a:t>CapEx</a:t>
                      </a:r>
                      <a:r>
                        <a:rPr lang="fr-FR" sz="1400" dirty="0"/>
                        <a:t> initial (GPU), </a:t>
                      </a:r>
                      <a:r>
                        <a:rPr lang="fr-FR" sz="1400" dirty="0" err="1"/>
                        <a:t>OpEx</a:t>
                      </a:r>
                      <a:r>
                        <a:rPr lang="fr-FR" sz="1400" dirty="0"/>
                        <a:t> quasi nul (coût électrique uniquement).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540995"/>
                  </a:ext>
                </a:extLst>
              </a:tr>
              <a:tr h="524110">
                <a:tc>
                  <a:txBody>
                    <a:bodyPr/>
                    <a:lstStyle/>
                    <a:p>
                      <a:r>
                        <a:rPr lang="fr-FR" sz="1400" dirty="0"/>
                        <a:t>Latence et débit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Dépendante du réseau et des surcharges serveur ; variable et non maîtrisée.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Optimale et prévisible ; pas de goulot réseau, débit stable.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2632146"/>
                  </a:ext>
                </a:extLst>
              </a:tr>
              <a:tr h="681343">
                <a:tc>
                  <a:txBody>
                    <a:bodyPr/>
                    <a:lstStyle/>
                    <a:p>
                      <a:r>
                        <a:rPr lang="fr-FR" sz="1400" dirty="0"/>
                        <a:t>Souveraineté des données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Nulle à limitée : données transitent et sont traitées sur des serveurs tiers, soumis au Cloud </a:t>
                      </a:r>
                      <a:r>
                        <a:rPr lang="fr-FR" sz="1400" dirty="0" err="1"/>
                        <a:t>Act</a:t>
                      </a:r>
                      <a:r>
                        <a:rPr lang="fr-FR" sz="1400" dirty="0"/>
                        <a:t> américain [32].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Totale : les données ne quittent jamais le périmètre de l’organisation.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150532"/>
                  </a:ext>
                </a:extLst>
              </a:tr>
              <a:tr h="703969">
                <a:tc>
                  <a:txBody>
                    <a:bodyPr/>
                    <a:lstStyle/>
                    <a:p>
                      <a:r>
                        <a:rPr lang="fr-FR" sz="1400" dirty="0"/>
                        <a:t>Conformité réglementaire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Risque d’incompatibilité avec la Loi 2008-12 (Sénégal) [33] et la Convention de Malabo [34] pour les données sensibles.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Pleine conformité : maîtrise locale des clés de chiffrement et de la localisation des données.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885667"/>
                  </a:ext>
                </a:extLst>
              </a:tr>
              <a:tr h="524110">
                <a:tc>
                  <a:txBody>
                    <a:bodyPr/>
                    <a:lstStyle/>
                    <a:p>
                      <a:r>
                        <a:rPr lang="fr-FR" sz="1400" dirty="0"/>
                        <a:t>Résilience hors-ligne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Nulle : toute panne réseau ou coupure de câble sous-marin [6] interrompt le service.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Totale : fonctionne en mode déconnecté, critique pour les zones à connectivité instable.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9322476"/>
                  </a:ext>
                </a:extLst>
              </a:tr>
              <a:tr h="524110">
                <a:tc>
                  <a:txBody>
                    <a:bodyPr/>
                    <a:lstStyle/>
                    <a:p>
                      <a:r>
                        <a:rPr lang="fr-FR" sz="1400" dirty="0"/>
                        <a:t>Cas d’usage cible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Requêtes complexes, raisonnement multi-étapes, volume de requêtes faible à moyen.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Données confidentielles, déploiements en environnement contraint, résilience offline.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29562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0"/>
          </a:xfrm>
          <a:prstGeom prst="rect">
            <a:avLst/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292608" cy="292608"/>
          </a:xfrm>
          <a:prstGeom prst="ellipse">
            <a:avLst/>
          </a:prstGeom>
          <a:solidFill>
            <a:srgbClr val="CFE4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14400" y="777240"/>
            <a:ext cx="292608" cy="292608"/>
          </a:xfrm>
          <a:prstGeom prst="ellipse">
            <a:avLst/>
          </a:prstGeom>
          <a:solidFill>
            <a:srgbClr val="127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280160" y="777240"/>
            <a:ext cx="292608" cy="292608"/>
          </a:xfrm>
          <a:prstGeom prst="ellipse">
            <a:avLst/>
          </a:prstGeom>
          <a:solidFill>
            <a:srgbClr val="D79A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1920240" y="502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technologique retenue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2651760"/>
            <a:ext cx="1847088" cy="301752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1207008" cy="822960"/>
          </a:xfrm>
          <a:prstGeom prst="roundRect">
            <a:avLst>
              <a:gd name="adj" fmla="val 50000"/>
            </a:avLst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822960" y="2880360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84048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Airflow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75488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idempotent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32304" y="2651760"/>
            <a:ext cx="1847088" cy="301752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2752344" y="2880360"/>
            <a:ext cx="1207008" cy="822960"/>
          </a:xfrm>
          <a:prstGeom prst="roundRect">
            <a:avLst>
              <a:gd name="adj" fmla="val 50000"/>
            </a:avLst>
          </a:prstGeom>
          <a:solidFill>
            <a:srgbClr val="127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2752344" y="2880360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523744" y="384048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pgvector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523744" y="475488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Relationnel + vectoriel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61688" y="2651760"/>
            <a:ext cx="1847088" cy="301752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681728" y="2880360"/>
            <a:ext cx="1207008" cy="822960"/>
          </a:xfrm>
          <a:prstGeom prst="roundRect">
            <a:avLst>
              <a:gd name="adj" fmla="val 50000"/>
            </a:avLst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4681728" y="2880360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453128" y="384048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/</a:t>
            </a:r>
            <a:endParaRPr lang="en-US" sz="1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453128" y="475488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 · RBAC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91072" y="2651760"/>
            <a:ext cx="1847088" cy="301752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611112" y="2880360"/>
            <a:ext cx="1207008" cy="822960"/>
          </a:xfrm>
          <a:prstGeom prst="roundRect">
            <a:avLst>
              <a:gd name="adj" fmla="val 50000"/>
            </a:avLst>
          </a:prstGeom>
          <a:solidFill>
            <a:srgbClr val="127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6611112" y="2880360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382512" y="384048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82512" y="475488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Routage hybride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0456" y="2651760"/>
            <a:ext cx="1847088" cy="301752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8540496" y="2880360"/>
            <a:ext cx="1207008" cy="822960"/>
          </a:xfrm>
          <a:prstGeom prst="roundRect">
            <a:avLst>
              <a:gd name="adj" fmla="val 50000"/>
            </a:avLst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8540496" y="2880360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8311896" y="384048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/</a:t>
            </a:r>
            <a:endParaRPr lang="en-US" sz="1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7B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311896" y="475488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locale souveraine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149840" y="2651760"/>
            <a:ext cx="1847088" cy="301752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10469880" y="2880360"/>
            <a:ext cx="1207008" cy="822960"/>
          </a:xfrm>
          <a:prstGeom prst="roundRect">
            <a:avLst>
              <a:gd name="adj" fmla="val 50000"/>
            </a:avLst>
          </a:prstGeom>
          <a:solidFill>
            <a:srgbClr val="127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10469880" y="2880360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0" y="384048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Claude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0241280" y="475488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cloud (Sonnet 4.5)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1250" i="1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Majoritairement open-source, complétée par un service cloud</a:t>
            </a:r>
            <a:r>
              <a:rPr lang="en-US" sz="1250" i="1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condition de la frugalité</a:t>
            </a:r>
          </a:p>
        </p:txBody>
      </p:sp>
      <p:sp>
        <p:nvSpPr>
          <p:cNvPr id="38" name="Shape 36"/>
          <p:cNvSpPr/>
          <p:nvPr/>
        </p:nvSpPr>
        <p:spPr>
          <a:xfrm>
            <a:off x="11478463" y="6199632"/>
            <a:ext cx="384048" cy="384048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11478463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206240" cy="3108960"/>
          </a:xfrm>
          <a:prstGeom prst="chord">
            <a:avLst>
              <a:gd name="adj1" fmla="val 1200000"/>
              <a:gd name="adj2" fmla="val 7200000"/>
            </a:avLst>
          </a:prstGeom>
          <a:solidFill>
            <a:srgbClr val="127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814255" y="-1280160"/>
            <a:ext cx="3657600" cy="2743200"/>
          </a:xfrm>
          <a:prstGeom prst="chord">
            <a:avLst>
              <a:gd name="adj1" fmla="val 1200000"/>
              <a:gd name="adj2" fmla="val 7200000"/>
            </a:avLst>
          </a:prstGeom>
          <a:solidFill>
            <a:srgbClr val="CFE4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181448" y="1417320"/>
            <a:ext cx="1828800" cy="1828800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346040" y="158191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346040" y="1581912"/>
            <a:ext cx="149961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330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901288" y="3611880"/>
            <a:ext cx="4389120" cy="777240"/>
          </a:xfrm>
          <a:prstGeom prst="roundRect">
            <a:avLst>
              <a:gd name="adj" fmla="val 49412"/>
            </a:avLst>
          </a:prstGeom>
          <a:solidFill>
            <a:srgbClr val="0E5B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3901288" y="36118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5943600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713232" y="5943600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969264" y="5943600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1225296" y="5943600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57200" y="6199632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713232" y="6199632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969264" y="6199632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225296" y="6199632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11478463" y="6199632"/>
            <a:ext cx="384048" cy="384048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11478463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  <p:transition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Architecture </a:t>
            </a:r>
            <a:r>
              <a:rPr lang="en-US" sz="2600" b="1" dirty="0">
                <a:solidFill>
                  <a:srgbClr val="127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logique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routage hybride selon la sensibilité de chaque requête est le cœur de l'architecture.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0" y="343877"/>
            <a:ext cx="6858000" cy="5782603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5875">
            <a:solidFill>
              <a:srgbClr val="127C82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1478463" y="6199632"/>
            <a:ext cx="384048" cy="384048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1478463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A8BBE12-5EA7-696D-9DCA-F84F4AF7C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510" y="360503"/>
            <a:ext cx="6858000" cy="578260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247" y="548640"/>
            <a:ext cx="3661507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Architecture </a:t>
            </a:r>
            <a:r>
              <a:rPr lang="en-US" sz="2600" b="1" dirty="0">
                <a:solidFill>
                  <a:srgbClr val="127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physique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4247" y="1828800"/>
            <a:ext cx="270803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la plateforme sur un </a:t>
            </a:r>
            <a:r>
              <a:rPr lang="en-US" sz="1400" dirty="0" err="1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</a:t>
            </a:r>
            <a:r>
              <a:rPr lang="en-US" sz="14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dédié</a:t>
            </a:r>
            <a:r>
              <a:rPr lang="en-US" sz="14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frugal,</a:t>
            </a:r>
            <a:br>
              <a:rPr lang="en-US" sz="14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support direct de H1.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49629" y="301752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OneProvider
</a:t>
            </a:r>
            <a:r>
              <a:rPr lang="en-US" sz="13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Nginx · réseau unique
</a:t>
            </a:r>
            <a:r>
              <a:rPr lang="en-US" sz="1300" b="1" dirty="0">
                <a:solidFill>
                  <a:srgbClr val="1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50 €/mois (frugalité)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31323" y="273033"/>
            <a:ext cx="7455877" cy="5853447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5875">
            <a:solidFill>
              <a:srgbClr val="127C82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478463" y="6199632"/>
            <a:ext cx="384048" cy="384048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11478463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3928BC9-7317-F5BB-85EA-0D29CDF2C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369" y="289659"/>
            <a:ext cx="9159631" cy="585344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206240" cy="3108960"/>
          </a:xfrm>
          <a:prstGeom prst="chord">
            <a:avLst>
              <a:gd name="adj1" fmla="val 1200000"/>
              <a:gd name="adj2" fmla="val 7200000"/>
            </a:avLst>
          </a:prstGeom>
          <a:solidFill>
            <a:srgbClr val="127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814255" y="-1280160"/>
            <a:ext cx="3657600" cy="2743200"/>
          </a:xfrm>
          <a:prstGeom prst="chord">
            <a:avLst>
              <a:gd name="adj1" fmla="val 1200000"/>
              <a:gd name="adj2" fmla="val 7200000"/>
            </a:avLst>
          </a:prstGeom>
          <a:solidFill>
            <a:srgbClr val="CFE4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181448" y="1417320"/>
            <a:ext cx="1828800" cy="1828800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346040" y="158191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346040" y="1581912"/>
            <a:ext cx="149961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330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901288" y="3611880"/>
            <a:ext cx="4389120" cy="777240"/>
          </a:xfrm>
          <a:prstGeom prst="roundRect">
            <a:avLst>
              <a:gd name="adj" fmla="val 49412"/>
            </a:avLst>
          </a:prstGeom>
          <a:solidFill>
            <a:srgbClr val="0E5B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3901288" y="36118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RÉALISATION &amp; RÉSULTATS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5943600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713232" y="5943600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969264" y="5943600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1225296" y="5943600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57200" y="6199632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713232" y="6199632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969264" y="6199632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225296" y="6199632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11478463" y="6199632"/>
            <a:ext cx="384048" cy="384048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11478463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  <p:transition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000" y="330200"/>
            <a:ext cx="1092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1A332E"/>
                </a:solidFill>
                <a:latin typeface="Arial"/>
              </a:rPr>
              <a:t>Le </a:t>
            </a:r>
            <a:r>
              <a:rPr sz="3000" b="1" dirty="0" err="1">
                <a:solidFill>
                  <a:srgbClr val="1A332E"/>
                </a:solidFill>
                <a:latin typeface="Arial"/>
              </a:rPr>
              <a:t>routage</a:t>
            </a:r>
            <a:r>
              <a:rPr sz="3000" b="1" dirty="0">
                <a:solidFill>
                  <a:srgbClr val="1A332E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A332E"/>
                </a:solidFill>
                <a:latin typeface="Arial"/>
              </a:rPr>
              <a:t>hybride</a:t>
            </a:r>
            <a:endParaRPr sz="3000" b="1" dirty="0">
              <a:solidFill>
                <a:srgbClr val="1A332E"/>
              </a:solidFill>
              <a:latin typeface="Arial"/>
            </a:endParaRPr>
          </a:p>
        </p:txBody>
      </p:sp>
      <p:pic>
        <p:nvPicPr>
          <p:cNvPr id="3" name="Picture 2" descr="assistant_lo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78" y="1286649"/>
            <a:ext cx="5080000" cy="2552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4178" y="3813603"/>
            <a:ext cx="508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556060"/>
                </a:solidFill>
                <a:latin typeface="Calibri"/>
              </a:rPr>
              <a:t>Question sur un chauffeur : </a:t>
            </a:r>
            <a:r>
              <a:rPr sz="1200" b="0" dirty="0" err="1">
                <a:solidFill>
                  <a:srgbClr val="556060"/>
                </a:solidFill>
                <a:latin typeface="Calibri"/>
              </a:rPr>
              <a:t>traitée</a:t>
            </a:r>
            <a:r>
              <a:rPr sz="1200" b="0" dirty="0">
                <a:solidFill>
                  <a:srgbClr val="55606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56060"/>
                </a:solidFill>
                <a:latin typeface="Calibri"/>
              </a:rPr>
              <a:t>en</a:t>
            </a:r>
            <a:r>
              <a:rPr sz="1200" b="0" dirty="0">
                <a:solidFill>
                  <a:srgbClr val="556060"/>
                </a:solidFill>
                <a:latin typeface="Calibri"/>
              </a:rPr>
              <a:t> local (souverain).</a:t>
            </a:r>
          </a:p>
        </p:txBody>
      </p:sp>
      <p:pic>
        <p:nvPicPr>
          <p:cNvPr id="7" name="Picture 6" descr="assistant_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232" y="660400"/>
            <a:ext cx="5478087" cy="28475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45004" y="3519724"/>
            <a:ext cx="381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556060"/>
                </a:solidFill>
                <a:latin typeface="Calibri"/>
              </a:rPr>
              <a:t>Question </a:t>
            </a:r>
            <a:r>
              <a:rPr sz="1200" b="0" dirty="0" err="1">
                <a:solidFill>
                  <a:srgbClr val="556060"/>
                </a:solidFill>
                <a:latin typeface="Calibri"/>
              </a:rPr>
              <a:t>d'analyse</a:t>
            </a:r>
            <a:r>
              <a:rPr sz="1200" b="0" dirty="0">
                <a:solidFill>
                  <a:srgbClr val="556060"/>
                </a:solidFill>
                <a:latin typeface="Calibri"/>
              </a:rPr>
              <a:t> : </a:t>
            </a:r>
            <a:r>
              <a:rPr sz="1200" b="0" dirty="0" err="1">
                <a:solidFill>
                  <a:srgbClr val="556060"/>
                </a:solidFill>
                <a:latin typeface="Calibri"/>
              </a:rPr>
              <a:t>traitée</a:t>
            </a:r>
            <a:r>
              <a:rPr sz="1200" b="0" dirty="0">
                <a:solidFill>
                  <a:srgbClr val="556060"/>
                </a:solidFill>
                <a:latin typeface="Calibri"/>
              </a:rPr>
              <a:t> via le cloud.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6C8E249-E4E6-920E-55B9-785FE6A04A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178" y="4196912"/>
            <a:ext cx="5679621" cy="2001105"/>
          </a:xfrm>
          <a:prstGeom prst="rect">
            <a:avLst/>
          </a:prstGeom>
        </p:spPr>
      </p:pic>
      <p:sp>
        <p:nvSpPr>
          <p:cNvPr id="13" name="TextBox 3">
            <a:extLst>
              <a:ext uri="{FF2B5EF4-FFF2-40B4-BE49-F238E27FC236}">
                <a16:creationId xmlns:a16="http://schemas.microsoft.com/office/drawing/2014/main" id="{16C85934-2398-B160-2E4A-F4AE5C26ADEC}"/>
              </a:ext>
            </a:extLst>
          </p:cNvPr>
          <p:cNvSpPr txBox="1"/>
          <p:nvPr/>
        </p:nvSpPr>
        <p:spPr>
          <a:xfrm>
            <a:off x="6375862" y="6447174"/>
            <a:ext cx="5461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 err="1">
                <a:solidFill>
                  <a:srgbClr val="556060"/>
                </a:solidFill>
                <a:latin typeface="Calibri"/>
              </a:rPr>
              <a:t>Preuve</a:t>
            </a:r>
            <a:r>
              <a:rPr lang="en-US" sz="1200" b="0" dirty="0">
                <a:solidFill>
                  <a:srgbClr val="556060"/>
                </a:solidFill>
                <a:latin typeface="Calibri"/>
              </a:rPr>
              <a:t> sur le workflow n8n</a:t>
            </a:r>
            <a:r>
              <a:rPr sz="1200" b="0" dirty="0">
                <a:solidFill>
                  <a:srgbClr val="556060"/>
                </a:solidFill>
                <a:latin typeface="Calibri"/>
              </a:rPr>
              <a:t>: </a:t>
            </a:r>
            <a:r>
              <a:rPr lang="en-US" sz="1200" b="0" dirty="0">
                <a:solidFill>
                  <a:srgbClr val="556060"/>
                </a:solidFill>
                <a:latin typeface="Calibri"/>
              </a:rPr>
              <a:t>la </a:t>
            </a:r>
            <a:r>
              <a:rPr lang="en-US" sz="1200" b="0" dirty="0" err="1">
                <a:solidFill>
                  <a:srgbClr val="556060"/>
                </a:solidFill>
                <a:latin typeface="Calibri"/>
              </a:rPr>
              <a:t>requête</a:t>
            </a:r>
            <a:r>
              <a:rPr lang="en-US" sz="1200" b="0" dirty="0">
                <a:solidFill>
                  <a:srgbClr val="556060"/>
                </a:solidFill>
                <a:latin typeface="Calibri"/>
              </a:rPr>
              <a:t> </a:t>
            </a:r>
            <a:r>
              <a:rPr lang="en-US" sz="1200" dirty="0">
                <a:solidFill>
                  <a:srgbClr val="556060"/>
                </a:solidFill>
                <a:latin typeface="Calibri"/>
              </a:rPr>
              <a:t>à</a:t>
            </a:r>
            <a:r>
              <a:rPr lang="en-US" sz="1200" b="0" dirty="0">
                <a:solidFill>
                  <a:srgbClr val="556060"/>
                </a:solidFill>
                <a:latin typeface="Calibri"/>
              </a:rPr>
              <a:t> </a:t>
            </a:r>
            <a:r>
              <a:rPr lang="en-US" sz="1200" b="0" dirty="0" err="1">
                <a:solidFill>
                  <a:srgbClr val="556060"/>
                </a:solidFill>
                <a:latin typeface="Calibri"/>
              </a:rPr>
              <a:t>ete</a:t>
            </a:r>
            <a:r>
              <a:rPr lang="en-US" sz="1200" b="0" dirty="0">
                <a:solidFill>
                  <a:srgbClr val="556060"/>
                </a:solidFill>
                <a:latin typeface="Calibri"/>
              </a:rPr>
              <a:t> transiter vers le RAG cloud.</a:t>
            </a:r>
            <a:endParaRPr sz="1200" b="0" dirty="0">
              <a:solidFill>
                <a:srgbClr val="556060"/>
              </a:solidFill>
              <a:latin typeface="Calibri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7C68F358-F560-3FD9-8C21-4521107496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037" y="4154977"/>
            <a:ext cx="5478087" cy="2043040"/>
          </a:xfrm>
          <a:prstGeom prst="rect">
            <a:avLst/>
          </a:prstGeom>
        </p:spPr>
      </p:pic>
      <p:sp>
        <p:nvSpPr>
          <p:cNvPr id="17" name="TextBox 3">
            <a:extLst>
              <a:ext uri="{FF2B5EF4-FFF2-40B4-BE49-F238E27FC236}">
                <a16:creationId xmlns:a16="http://schemas.microsoft.com/office/drawing/2014/main" id="{9B2038E4-4BCF-0329-61E1-39D86D7EEB77}"/>
              </a:ext>
            </a:extLst>
          </p:cNvPr>
          <p:cNvSpPr txBox="1"/>
          <p:nvPr/>
        </p:nvSpPr>
        <p:spPr>
          <a:xfrm>
            <a:off x="355138" y="6538957"/>
            <a:ext cx="5461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 err="1">
                <a:solidFill>
                  <a:srgbClr val="556060"/>
                </a:solidFill>
                <a:latin typeface="Calibri"/>
              </a:rPr>
              <a:t>Preuve</a:t>
            </a:r>
            <a:r>
              <a:rPr lang="en-US" sz="1200" b="0" dirty="0">
                <a:solidFill>
                  <a:srgbClr val="556060"/>
                </a:solidFill>
                <a:latin typeface="Calibri"/>
              </a:rPr>
              <a:t> sur le workflow n8n</a:t>
            </a:r>
            <a:r>
              <a:rPr sz="1200" b="0" dirty="0">
                <a:solidFill>
                  <a:srgbClr val="556060"/>
                </a:solidFill>
                <a:latin typeface="Calibri"/>
              </a:rPr>
              <a:t>: </a:t>
            </a:r>
            <a:r>
              <a:rPr lang="en-US" sz="1200" b="0" dirty="0">
                <a:solidFill>
                  <a:srgbClr val="556060"/>
                </a:solidFill>
                <a:latin typeface="Calibri"/>
              </a:rPr>
              <a:t>la </a:t>
            </a:r>
            <a:r>
              <a:rPr lang="en-US" sz="1200" b="0" dirty="0" err="1">
                <a:solidFill>
                  <a:srgbClr val="556060"/>
                </a:solidFill>
                <a:latin typeface="Calibri"/>
              </a:rPr>
              <a:t>requête</a:t>
            </a:r>
            <a:r>
              <a:rPr lang="en-US" sz="1200" b="0" dirty="0">
                <a:solidFill>
                  <a:srgbClr val="556060"/>
                </a:solidFill>
                <a:latin typeface="Calibri"/>
              </a:rPr>
              <a:t> </a:t>
            </a:r>
            <a:r>
              <a:rPr lang="en-US" sz="1200" dirty="0">
                <a:solidFill>
                  <a:srgbClr val="556060"/>
                </a:solidFill>
                <a:latin typeface="Calibri"/>
              </a:rPr>
              <a:t>à</a:t>
            </a:r>
            <a:r>
              <a:rPr lang="en-US" sz="1200" b="0" dirty="0">
                <a:solidFill>
                  <a:srgbClr val="556060"/>
                </a:solidFill>
                <a:latin typeface="Calibri"/>
              </a:rPr>
              <a:t> </a:t>
            </a:r>
            <a:r>
              <a:rPr lang="en-US" sz="1200" b="0" dirty="0" err="1">
                <a:solidFill>
                  <a:srgbClr val="556060"/>
                </a:solidFill>
                <a:latin typeface="Calibri"/>
              </a:rPr>
              <a:t>ete</a:t>
            </a:r>
            <a:r>
              <a:rPr lang="en-US" sz="1200" b="0" dirty="0">
                <a:solidFill>
                  <a:srgbClr val="556060"/>
                </a:solidFill>
                <a:latin typeface="Calibri"/>
              </a:rPr>
              <a:t> transiter vers le RAG </a:t>
            </a:r>
            <a:r>
              <a:rPr sz="1200" b="0" dirty="0">
                <a:solidFill>
                  <a:srgbClr val="556060"/>
                </a:solidFill>
                <a:latin typeface="Calibri"/>
              </a:rPr>
              <a:t>local (souverain).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&amp; H3 : frugalité tenue, temps transformé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  <a:effectLst>
            <a:outerShdw blurRad="76200" dist="25400" dir="5400000" algn="bl" rotWithShape="0">
              <a:srgbClr val="AAB4B6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48640" y="149961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7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~37,4 €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mois, H1 confirmée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97680" y="137160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  <a:effectLst>
            <a:outerShdw blurRad="76200" dist="25400" dir="5400000" algn="bl" rotWithShape="0">
              <a:srgbClr val="AAB4B6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4297680" y="149961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7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~85 %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2240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temps en moins, H3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  <a:effectLst>
            <a:outerShdw blurRad="76200" dist="25400" dir="5400000" algn="bl" rotWithShape="0">
              <a:srgbClr val="AAB4B6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8046720" y="149961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7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88,1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2240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SUS / 100 (cible 70)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54864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777240" y="3246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/ après, mesuré (5 sessions appariées)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70332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(avant)
</a:t>
            </a:r>
            <a:r>
              <a:rPr lang="en-US" sz="15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11 min par opération
</a:t>
            </a:r>
            <a:r>
              <a:rPr lang="en-US" sz="1300" b="1" dirty="0">
                <a:solidFill>
                  <a:srgbClr val="1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(après)
</a:t>
            </a:r>
            <a:r>
              <a:rPr lang="en-US" sz="15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1,7 min par opération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486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de l'ordre de 85 %  ·  seuil H3 = 70 %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06324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E4EE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492240" y="3246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disent les utilisateurs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65760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23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Je n'ai plus besoin d'attendre les fichiers Excel pour les ressaisir ; j'ai tout automatiquement, en temps réel. »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5074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Chef logistique, Bamako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5440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2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double saisie supprimée, chiffre + vécu convergent.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1478463" y="6199632"/>
            <a:ext cx="384048" cy="384048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11478463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4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: le résultat central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4300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E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RAG local atteint-il la parité avec le cloud 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965960"/>
            <a:ext cx="4480560" cy="2560320"/>
          </a:xfrm>
          <a:prstGeom prst="roundRect">
            <a:avLst>
              <a:gd name="adj" fmla="val 3571"/>
            </a:avLst>
          </a:prstGeom>
          <a:solidFill>
            <a:srgbClr val="0A3B3F"/>
          </a:solidFill>
          <a:ln w="19050">
            <a:solidFill>
              <a:srgbClr val="1B7A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097280" y="2194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F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(Claude + SQL)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060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88,9 %</a:t>
            </a:r>
            <a:endParaRPr lang="en-US" sz="5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6118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FE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exactitude stricte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CFE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 questions)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0" y="1965960"/>
            <a:ext cx="4480560" cy="2560320"/>
          </a:xfrm>
          <a:prstGeom prst="roundRect">
            <a:avLst>
              <a:gd name="adj" fmla="val 3571"/>
            </a:avLst>
          </a:prstGeom>
          <a:solidFill>
            <a:srgbClr val="3A1620"/>
          </a:solidFill>
          <a:ln w="19050">
            <a:solidFill>
              <a:srgbClr val="B23A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583680" y="2194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(Mistral + vectoriel)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6060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20,0 %</a:t>
            </a:r>
            <a:endParaRPr lang="en-US" sz="5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6118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exactitude stricte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seuil 90 % visé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80060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RÉFUTÉE sur la parité, la souveraineté, elle, reste acquise par construction.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478463" y="6199632"/>
            <a:ext cx="384048" cy="384048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11478463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16" name="TextBox 15"/>
          <p:cNvSpPr txBox="1"/>
          <p:nvPr/>
        </p:nvSpPr>
        <p:spPr>
          <a:xfrm>
            <a:off x="889000" y="5969000"/>
            <a:ext cx="104140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AEA"/>
                </a:solidFill>
                <a:latin typeface="Calibri"/>
              </a:rPr>
              <a:t>Pourquoi : le RAG vectoriel cherche des passages semblables, il ne calcule pas un COUNT/SUM exact ; l'agent SQL, si. Preuve : Q02, Q04 et Q17 renvoient la même réponse.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4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 des quatre hypothèses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0A3B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05840" y="1581912"/>
            <a:ext cx="777240" cy="585216"/>
          </a:xfrm>
          <a:prstGeom prst="roundRect">
            <a:avLst>
              <a:gd name="adj" fmla="val 7813"/>
            </a:avLst>
          </a:prstGeom>
          <a:solidFill>
            <a:srgbClr val="1B7A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005840" y="1581912"/>
            <a:ext cx="777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5087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Frugalité (~37,4 €/mois)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5087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CONFIRMÉE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4688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0A3B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005840" y="2633472"/>
            <a:ext cx="777240" cy="585216"/>
          </a:xfrm>
          <a:prstGeom prst="roundRect">
            <a:avLst>
              <a:gd name="adj" fmla="val 7813"/>
            </a:avLst>
          </a:prstGeom>
          <a:solidFill>
            <a:srgbClr val="B23A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1005840" y="2633472"/>
            <a:ext cx="777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2560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Parité RAG local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25603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RÉFUTÉE, diagnostic obtenu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52044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0A3B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05840" y="3685032"/>
            <a:ext cx="777240" cy="585216"/>
          </a:xfrm>
          <a:prstGeom prst="roundRect">
            <a:avLst>
              <a:gd name="adj" fmla="val 7813"/>
            </a:avLst>
          </a:prstGeom>
          <a:solidFill>
            <a:srgbClr val="1B7A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1005840" y="3685032"/>
            <a:ext cx="777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011680" y="3611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 temps (~85 %)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36118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CONFIRMÉE (volet temps)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457200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0A3B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1005840" y="4736592"/>
            <a:ext cx="777240" cy="585216"/>
          </a:xfrm>
          <a:prstGeom prst="roundRect">
            <a:avLst>
              <a:gd name="adj" fmla="val 7813"/>
            </a:avLst>
          </a:prstGeom>
          <a:solidFill>
            <a:srgbClr val="127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1005840" y="4736592"/>
            <a:ext cx="777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46634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Réplicabilité (SPL)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46634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2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ÉTAYÉE analytiquement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760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CFE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hypothèses confirmées ou étayées ; la quatrième réfutée, mais sa réfutation a produit l'enseignement le plus original.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1478463" y="6199632"/>
            <a:ext cx="384048" cy="384048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11478463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26" name="TextBox 25"/>
          <p:cNvSpPr txBox="1"/>
          <p:nvPr/>
        </p:nvSpPr>
        <p:spPr>
          <a:xfrm>
            <a:off x="889000" y="6350000"/>
            <a:ext cx="10414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Calibri"/>
              </a:rPr>
              <a:t>Méthode : coût relevé (H1), benchmark de 30 questions (H2), chronométrage apparié (H3), analyse par lignes de produits (H4).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000" y="330200"/>
            <a:ext cx="109220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32E"/>
                </a:solidFill>
                <a:latin typeface="Arial"/>
              </a:rPr>
              <a:t>Retour sur investissement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35000" y="1524000"/>
            <a:ext cx="3429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0E7C66"/>
                </a:solidFill>
                <a:latin typeface="Arial"/>
              </a:rPr>
              <a:t>~37,4 €</a:t>
            </a:r>
          </a:p>
          <a:p>
            <a:pPr algn="ctr"/>
            <a:r>
              <a:rPr sz="1400">
                <a:solidFill>
                  <a:srgbClr val="556060"/>
                </a:solidFill>
                <a:latin typeface="Calibri"/>
              </a:rPr>
              <a:t>coût mensuel, sans licence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1500" y="1524000"/>
            <a:ext cx="3429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0E7C66"/>
                </a:solidFill>
                <a:latin typeface="Arial"/>
              </a:rPr>
              <a:t>~47 h</a:t>
            </a:r>
          </a:p>
          <a:p>
            <a:pPr algn="ctr"/>
            <a:r>
              <a:rPr sz="1400">
                <a:solidFill>
                  <a:srgbClr val="556060"/>
                </a:solidFill>
                <a:latin typeface="Calibri"/>
              </a:rPr>
              <a:t>temps agent récupéré / mois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0" y="1524000"/>
            <a:ext cx="3429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0E7C66"/>
                </a:solidFill>
                <a:latin typeface="Arial"/>
              </a:rPr>
              <a:t>8,5 à 24 mois</a:t>
            </a:r>
          </a:p>
          <a:p>
            <a:pPr algn="ctr"/>
            <a:r>
              <a:rPr sz="1400">
                <a:solidFill>
                  <a:srgbClr val="556060"/>
                </a:solidFill>
                <a:latin typeface="Calibri"/>
              </a:rPr>
              <a:t>amortissement selon le scénario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3810000"/>
            <a:ext cx="1079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A332E"/>
                </a:solidFill>
                <a:latin typeface="Calibri"/>
              </a:rPr>
              <a:t>L'investissement se limite à l'infrastructure. Le gain vient du temps de saisie libéré (H3, ~85 %).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4254500"/>
            <a:ext cx="1079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6060"/>
                </a:solidFill>
                <a:latin typeface="Calibri"/>
              </a:rPr>
              <a:t>Pas de licence : pile majoritairement open source, complétée par un appel cloud facturé à l'usage.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4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103120" y="1463040"/>
            <a:ext cx="795528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127C82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2103120" y="54406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CFE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prête comme filet de sécurité (si VPS indisponible) ; démo live si l'infrastructure est en marche le jour J.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478463" y="6199632"/>
            <a:ext cx="384048" cy="384048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1478463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D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84219" y="-1368983"/>
            <a:ext cx="4206240" cy="3108960"/>
          </a:xfrm>
          <a:prstGeom prst="chord">
            <a:avLst>
              <a:gd name="adj1" fmla="val 1200000"/>
              <a:gd name="adj2" fmla="val 7200000"/>
            </a:avLst>
          </a:prstGeom>
          <a:solidFill>
            <a:srgbClr val="127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8758539" y="-1097280"/>
            <a:ext cx="3657600" cy="2743200"/>
          </a:xfrm>
          <a:prstGeom prst="chord">
            <a:avLst>
              <a:gd name="adj1" fmla="val 1200000"/>
              <a:gd name="adj2" fmla="val 7200000"/>
            </a:avLst>
          </a:prstGeom>
          <a:solidFill>
            <a:srgbClr val="CFE4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181448" y="1417320"/>
            <a:ext cx="1828800" cy="1828800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346040" y="158191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346040" y="1581912"/>
            <a:ext cx="149961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330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901288" y="3611880"/>
            <a:ext cx="4389120" cy="777240"/>
          </a:xfrm>
          <a:prstGeom prst="roundRect">
            <a:avLst>
              <a:gd name="adj" fmla="val 49412"/>
            </a:avLst>
          </a:prstGeom>
          <a:solidFill>
            <a:srgbClr val="0E5B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3901288" y="36118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PERSPECTIVES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5943600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713232" y="5943600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969264" y="5943600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1225296" y="5943600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57200" y="6199632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713232" y="6199632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969264" y="6199632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225296" y="6199632"/>
            <a:ext cx="146304" cy="146304"/>
          </a:xfrm>
          <a:prstGeom prst="rect">
            <a:avLst/>
          </a:prstGeom>
          <a:solidFill>
            <a:srgbClr val="23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11478463" y="6199632"/>
            <a:ext cx="384048" cy="384048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11478463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  <p:transition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4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PME africaine peut se digitaliser à moindre coût et de façon souveraine, je l'ai construit, déployé et mesuré.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31520" y="2880360"/>
            <a:ext cx="10698480" cy="868680"/>
          </a:xfrm>
          <a:prstGeom prst="roundRect">
            <a:avLst>
              <a:gd name="adj" fmla="val 7368"/>
            </a:avLst>
          </a:prstGeom>
          <a:solidFill>
            <a:srgbClr val="0A3B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E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Frugalité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29900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~37,4 €/mois, accessible à une PME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3886200"/>
            <a:ext cx="10698480" cy="868680"/>
          </a:xfrm>
          <a:prstGeom prst="roundRect">
            <a:avLst>
              <a:gd name="adj" fmla="val 7368"/>
            </a:avLst>
          </a:prstGeom>
          <a:solidFill>
            <a:srgbClr val="0A3B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960120" y="39959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E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399592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~85 % de temps 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gagné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fr-FR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utilisabilité très favorable (SUS 88,1, n=4)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4892040"/>
            <a:ext cx="10698480" cy="868680"/>
          </a:xfrm>
          <a:prstGeom prst="roundRect">
            <a:avLst>
              <a:gd name="adj" fmla="val 7368"/>
            </a:avLst>
          </a:prstGeom>
          <a:solidFill>
            <a:srgbClr val="0A3B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60120" y="500176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E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originale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50017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RAG vectoriel est inadapté aux données structurées, né d'une hypothèse réfutée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8064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CFE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souveraineté numérique des PME africaines n'est pas hors de portée budgétaire, mais elle a un coût technique précis, désormais nommé, qu'il reste à combler.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478463" y="6199632"/>
            <a:ext cx="384048" cy="384048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11478463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D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127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6916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la latence en conditions VPS distant · mitiger le risque SQL · mesurer la </a:t>
            </a:r>
            <a:r>
              <a:rPr lang="en-US" sz="1400" dirty="0" err="1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</a:t>
            </a:r>
            <a:r>
              <a:rPr lang="en-US" sz="14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31520" y="324612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731520" y="32461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32004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 texte-vers-SQL local (rouvrirait H2) · validation numérique · mode hors-ligne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31520" y="475488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0C4B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731520" y="47548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470916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multi-cas de H4 (SODRAF) · SaaS multi-tenant fondé sur le feature model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piste phare : le routeur texte-vers-SQL, la bonne architecture que le benchmark a révélée.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1478463" y="6199632"/>
            <a:ext cx="384048" cy="384048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11478463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D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2286000"/>
            <a:ext cx="7315200" cy="7315200"/>
          </a:xfrm>
          <a:prstGeom prst="chord">
            <a:avLst>
              <a:gd name="adj1" fmla="val 9000000"/>
              <a:gd name="adj2" fmla="val 19200000"/>
            </a:avLst>
          </a:prstGeom>
          <a:solidFill>
            <a:srgbClr val="CFE4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POUR VOTRE</a:t>
            </a:r>
            <a:endParaRPr 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E5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3840480"/>
            <a:ext cx="2743200" cy="0"/>
          </a:xfrm>
          <a:prstGeom prst="line">
            <a:avLst/>
          </a:prstGeom>
          <a:noFill/>
          <a:ln w="31750">
            <a:solidFill>
              <a:srgbClr val="127C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40080" y="4572000"/>
            <a:ext cx="5760720" cy="1463040"/>
          </a:xfrm>
          <a:prstGeom prst="roundRect">
            <a:avLst>
              <a:gd name="adj" fmla="val 6250"/>
            </a:avLst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914400" y="475488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Brahima Mamadou YARANAGORE
</a:t>
            </a:r>
            <a:r>
              <a:rPr lang="en-US" sz="1200" dirty="0">
                <a:solidFill>
                  <a:srgbClr val="CFE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2 Génie Logiciel, Université Dakar Bourguiba
Sous la direction de M. Massamba LO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478463" y="6199632"/>
            <a:ext cx="384048" cy="384048"/>
          </a:xfrm>
          <a:prstGeom prst="ellipse">
            <a:avLst/>
          </a:prstGeom>
          <a:solidFill>
            <a:srgbClr val="0E5B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11478463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000" y="330200"/>
            <a:ext cx="109220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332E"/>
                </a:solidFill>
                <a:latin typeface="Arial"/>
              </a:rPr>
              <a:t>Annexe A - Conteneurs en production (docker ps)</a:t>
            </a:r>
          </a:p>
        </p:txBody>
      </p:sp>
      <p:pic>
        <p:nvPicPr>
          <p:cNvPr id="3" name="Picture 2" descr="docker_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06500"/>
            <a:ext cx="10922000" cy="208066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000" y="330200"/>
            <a:ext cx="109220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332E"/>
                </a:solidFill>
                <a:latin typeface="Arial"/>
              </a:rPr>
              <a:t>Annexe B - DAG ETL Airflow (exécution réussie)</a:t>
            </a:r>
          </a:p>
        </p:txBody>
      </p:sp>
      <p:pic>
        <p:nvPicPr>
          <p:cNvPr id="3" name="Picture 2" descr="airflow_d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06500"/>
            <a:ext cx="10922000" cy="353790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000" y="330200"/>
            <a:ext cx="109220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332E"/>
                </a:solidFill>
                <a:latin typeface="Arial"/>
              </a:rPr>
              <a:t>Annexe C - Tableau de bord</a:t>
            </a:r>
          </a:p>
        </p:txBody>
      </p:sp>
      <p:pic>
        <p:nvPicPr>
          <p:cNvPr id="3" name="Picture 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06500"/>
            <a:ext cx="10922000" cy="462218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000" y="330200"/>
            <a:ext cx="109220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332E"/>
                </a:solidFill>
                <a:latin typeface="Arial"/>
              </a:rPr>
              <a:t>Annexe D - Contrôle métier au moment de la saisie</a:t>
            </a:r>
          </a:p>
        </p:txBody>
      </p:sp>
      <p:pic>
        <p:nvPicPr>
          <p:cNvPr id="3" name="Picture 2" descr="saisie_re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06500"/>
            <a:ext cx="10922000" cy="41428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1074</TotalTime>
  <Words>1834</Words>
  <Application>Microsoft Office PowerPoint</Application>
  <PresentationFormat>Grand écran</PresentationFormat>
  <Paragraphs>269</Paragraphs>
  <Slides>28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2" baseType="lpstr">
      <vt:lpstr>Arial</vt:lpstr>
      <vt:lpstr>Calibri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SOYAFF</dc:title>
  <dc:subject>PptxGenJS Presentation</dc:subject>
  <dc:creator>Brahima Mamadou Yaranagore</dc:creator>
  <cp:lastModifiedBy>Brahima Yaranagore</cp:lastModifiedBy>
  <cp:revision>12</cp:revision>
  <dcterms:created xsi:type="dcterms:W3CDTF">2026-09-14T15:00:17Z</dcterms:created>
  <dcterms:modified xsi:type="dcterms:W3CDTF">2026-10-03T06:02:14Z</dcterms:modified>
</cp:coreProperties>
</file>